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03923" y="0"/>
            <a:ext cx="5485028" cy="6858000"/>
          </a:xfrm>
          <a:prstGeom prst="rect">
            <a:avLst/>
          </a:prstGeom>
          <a:solidFill>
            <a:srgbClr val="ED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703923" cy="54864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03923" y="0"/>
            <a:ext cx="5485028" cy="54864"/>
          </a:xfrm>
          <a:prstGeom prst="rect">
            <a:avLst/>
          </a:prstGeom>
          <a:solidFill>
            <a:srgbClr val="E8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14232" y="-731520"/>
            <a:ext cx="3840480" cy="3840480"/>
          </a:xfrm>
          <a:prstGeom prst="ellipse">
            <a:avLst/>
          </a:prstGeom>
          <a:solidFill>
            <a:srgbClr val="ED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73736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98EC5"/>
                </a:solidFill>
                <a:latin typeface="맑은 고딕"/>
              </a:rPr>
              <a:t>뷰티아트산업학과 · 피부미용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A2230"/>
                </a:solidFill>
                <a:latin typeface="맑은 고딕"/>
              </a:rPr>
              <a:t>본인이 사용하는 화장품 및 관리 방법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A6070"/>
                </a:solidFill>
                <a:latin typeface="맑은 고딕"/>
              </a:rPr>
              <a:t>나의 피부 유형에 맞는 보습 루틴과 제품 사용 경험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3566160"/>
            <a:ext cx="1371600" cy="36576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374903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6070"/>
                </a:solidFill>
                <a:latin typeface="맑은 고딕"/>
              </a:rPr>
              <a:t>학과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7490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A2230"/>
                </a:solidFill>
                <a:latin typeface="맑은 고딕"/>
              </a:rPr>
              <a:t>뷰티아트산업학과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059935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6070"/>
                </a:solidFill>
                <a:latin typeface="맑은 고딕"/>
              </a:rPr>
              <a:t>이름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05993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A2230"/>
                </a:solidFill>
                <a:latin typeface="맑은 고딕"/>
              </a:rPr>
              <a:t>이현주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37083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6070"/>
                </a:solidFill>
                <a:latin typeface="맑은 고딕"/>
              </a:rPr>
              <a:t>학번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37083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A2230"/>
                </a:solidFill>
                <a:latin typeface="맑은 고딕"/>
              </a:rPr>
              <a:t>2024215607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4552" y="660196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9B8E0"/>
                </a:solidFill>
                <a:latin typeface="맑은 고딕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703923" cy="54864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03923" y="0"/>
            <a:ext cx="5485028" cy="54864"/>
          </a:xfrm>
          <a:prstGeom prst="rect">
            <a:avLst/>
          </a:prstGeom>
          <a:solidFill>
            <a:srgbClr val="E8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98EC5"/>
                </a:solidFill>
                <a:latin typeface="맑은 고딕"/>
              </a:rPr>
              <a:t>My Skin Condition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A2230"/>
                </a:solidFill>
                <a:latin typeface="맑은 고딕"/>
              </a:rPr>
              <a:t>나의 피부 상태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32688"/>
            <a:ext cx="411480" cy="32004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61288"/>
            <a:ext cx="36576" cy="201168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430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D4F96"/>
                </a:solidFill>
                <a:latin typeface="맑은 고딕"/>
              </a:rPr>
              <a:t>피부 유형 : 건성 피부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35608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나의 피부는 건성 피부로, 피지 분비가 적고 피부 장벽이 약한 편입니다.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계절이나 생활환경에 따라 피부 상태가 민감하게 반응하며,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특히 세안 후 보습을 적절히 해주지 않으면 피부가 빠르게 당기는 느낌이 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21408"/>
            <a:ext cx="36576" cy="201168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D4F96"/>
                </a:solidFill>
                <a:latin typeface="맑은 고딕"/>
              </a:rPr>
              <a:t>주요 피부 고민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95728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세안 후 피부 당김이 자주 느껴지며, 겉으로는 유분이 없어 보이지만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피부 속은 건조한 속건조 상태가 지속됩니다.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특히 실내 냉난방 환경에서 더 심해지는 경향이 있어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하루 중 수분감이 떨어지는 시간이 빠른 편입니다.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36976"/>
            <a:ext cx="36576" cy="201168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186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D4F96"/>
                </a:solidFill>
                <a:latin typeface="맑은 고딕"/>
              </a:rPr>
              <a:t>관리 방향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11296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자극이 적고 보습력이 좋은 제품을 중심으로 스킨케어 루틴을 구성하고 있으며,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피부 장벽을 강화하면서 하루 종일 수분감을 유지하는 것을 목표로 관리하고 있습니다.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005840"/>
            <a:ext cx="4114800" cy="5120640"/>
          </a:xfrm>
          <a:prstGeom prst="rect">
            <a:avLst/>
          </a:prstGeom>
          <a:solidFill>
            <a:srgbClr val="FAF8F5"/>
          </a:solidFill>
          <a:ln w="9525">
            <a:solidFill>
              <a:srgbClr val="E8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1170432"/>
            <a:ext cx="3749040" cy="347472"/>
          </a:xfrm>
          <a:prstGeom prst="rect">
            <a:avLst/>
          </a:prstGeom>
          <a:solidFill>
            <a:srgbClr val="7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1170432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건성 피부의 특징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1664208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A2030"/>
                </a:solidFill>
                <a:latin typeface="맑은 고딕"/>
              </a:rPr>
              <a:t>1.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66420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A4350"/>
                </a:solidFill>
                <a:latin typeface="맑은 고딕"/>
              </a:rPr>
              <a:t>피부가 자주 당기는 느낌이 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0688" y="2487168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A2030"/>
                </a:solidFill>
                <a:latin typeface="맑은 고딕"/>
              </a:rPr>
              <a:t>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48716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A4350"/>
                </a:solidFill>
                <a:latin typeface="맑은 고딕"/>
              </a:rPr>
              <a:t>가려워서 긁고 싶은 느낌이 빈번하게 나타난다.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3310128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A2030"/>
                </a:solidFill>
                <a:latin typeface="맑은 고딕"/>
              </a:rPr>
              <a:t>3.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31012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A4350"/>
                </a:solidFill>
                <a:latin typeface="맑은 고딕"/>
              </a:rPr>
              <a:t>손으로 살짝 만졌을 때 매끄럽지 않고
거친 느낌이 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0688" y="4133088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A2030"/>
                </a:solidFill>
                <a:latin typeface="맑은 고딕"/>
              </a:rPr>
              <a:t>4.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13308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A4350"/>
                </a:solidFill>
                <a:latin typeface="맑은 고딕"/>
              </a:rPr>
              <a:t>각질이 심하게 발생한다.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0688" y="4956048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A2030"/>
                </a:solidFill>
                <a:latin typeface="맑은 고딕"/>
              </a:rPr>
              <a:t>5.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95604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A4350"/>
                </a:solidFill>
                <a:latin typeface="맑은 고딕"/>
              </a:rPr>
              <a:t>주변 환경에 따라서 피부가
예민하게 반응한다.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46520"/>
            <a:ext cx="12188952" cy="9144"/>
          </a:xfrm>
          <a:prstGeom prst="rect">
            <a:avLst/>
          </a:prstGeom>
          <a:solidFill>
            <a:srgbClr val="EDE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56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98EC5"/>
                </a:solidFill>
                <a:latin typeface="맑은 고딕"/>
              </a:rPr>
              <a:t>KEY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6537960"/>
            <a:ext cx="914400" cy="237744"/>
          </a:xfrm>
          <a:prstGeom prst="rect">
            <a:avLst/>
          </a:prstGeom>
          <a:solidFill>
            <a:srgbClr val="F3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65562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4F96"/>
                </a:solidFill>
                <a:latin typeface="맑은 고딕"/>
              </a:rPr>
              <a:t>건성 피부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48840" y="6537960"/>
            <a:ext cx="658368" cy="237744"/>
          </a:xfrm>
          <a:prstGeom prst="rect">
            <a:avLst/>
          </a:prstGeom>
          <a:solidFill>
            <a:srgbClr val="F3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40280" y="6556248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4F96"/>
                </a:solidFill>
                <a:latin typeface="맑은 고딕"/>
              </a:rPr>
              <a:t>속건조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98648" y="6537960"/>
            <a:ext cx="914400" cy="237744"/>
          </a:xfrm>
          <a:prstGeom prst="rect">
            <a:avLst/>
          </a:prstGeom>
          <a:solidFill>
            <a:srgbClr val="F3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90088" y="65562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4F96"/>
                </a:solidFill>
                <a:latin typeface="맑은 고딕"/>
              </a:rPr>
              <a:t>피부 당김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04488" y="6537960"/>
            <a:ext cx="914400" cy="237744"/>
          </a:xfrm>
          <a:prstGeom prst="rect">
            <a:avLst/>
          </a:prstGeom>
          <a:solidFill>
            <a:srgbClr val="F3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95928" y="65562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4F96"/>
                </a:solidFill>
                <a:latin typeface="맑은 고딕"/>
              </a:rPr>
              <a:t>수분 공급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10328" y="6537960"/>
            <a:ext cx="914400" cy="237744"/>
          </a:xfrm>
          <a:prstGeom prst="rect">
            <a:avLst/>
          </a:prstGeom>
          <a:solidFill>
            <a:srgbClr val="F3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01768" y="65562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4F96"/>
                </a:solidFill>
                <a:latin typeface="맑은 고딕"/>
              </a:rPr>
              <a:t>보습 관리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16168" y="6537960"/>
            <a:ext cx="914400" cy="237744"/>
          </a:xfrm>
          <a:prstGeom prst="rect">
            <a:avLst/>
          </a:prstGeom>
          <a:solidFill>
            <a:srgbClr val="F3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07608" y="65562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4F96"/>
                </a:solidFill>
                <a:latin typeface="맑은 고딕"/>
              </a:rPr>
              <a:t>피부 장벽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74552" y="660196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9B8E0"/>
                </a:solidFill>
                <a:latin typeface="맑은 고딕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703923" cy="54864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03923" y="0"/>
            <a:ext cx="5485028" cy="54864"/>
          </a:xfrm>
          <a:prstGeom prst="rect">
            <a:avLst/>
          </a:prstGeom>
          <a:solidFill>
            <a:srgbClr val="E8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98EC5"/>
                </a:solidFill>
                <a:latin typeface="맑은 고딕"/>
              </a:rPr>
              <a:t>Products I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A2230"/>
                </a:solidFill>
                <a:latin typeface="맑은 고딕"/>
              </a:rPr>
              <a:t>현재 사용 중인 화장품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32688"/>
            <a:ext cx="411480" cy="32004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61288"/>
            <a:ext cx="36576" cy="201168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430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D4F96"/>
                </a:solidFill>
                <a:latin typeface="맑은 고딕"/>
              </a:rPr>
              <a:t>① 디마프 히어로 마이 퍼스트 세럼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35608"/>
            <a:ext cx="6675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가장 먼저 사용하게 된 제품으로, 건성 피부의 수분 보충을 목적으로 도입하였습니다.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세럼 타입으로 피부에 가볍게 흡수되는 것이 특징입니다.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주요 성분으로는 수분을 끌어당겨 피부 표면에 수분막을 형성하는 히알루론산,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피부 보습과 장벽 기능을 돕는 판테놀, 수분 손실을 억제하는 세라마이드,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피부를 부드럽게 가꾸는 호호바씨오일과 마카다미아씨오일이 포함되어 있습니다.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61488"/>
            <a:ext cx="36576" cy="201168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D4F96"/>
                </a:solidFill>
                <a:latin typeface="맑은 고딕"/>
              </a:rPr>
              <a:t>② 보습 크림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35808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세럼 사용 후 마지막 단계에서 수분이 날아가지 않도록 밀봉하는 역할로 사용하고 있습니다.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피부에 수분을 잡아두는 효과를 위해 꾸준히 활용 중입니다.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A98EC5"/>
                </a:solidFill>
                <a:latin typeface="맑은 고딕"/>
              </a:rPr>
              <a:t>주요 성분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3648456"/>
            <a:ext cx="1028700" cy="274320"/>
          </a:xfrm>
          <a:prstGeom prst="rect">
            <a:avLst/>
          </a:prstGeom>
          <a:solidFill>
            <a:srgbClr val="F3EEF9"/>
          </a:solidFill>
          <a:ln w="6350">
            <a:solidFill>
              <a:srgbClr val="C9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3675888"/>
            <a:ext cx="1028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D4F96"/>
                </a:solidFill>
                <a:latin typeface="맑은 고딕"/>
              </a:rPr>
              <a:t>히알루론산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20340" y="3648456"/>
            <a:ext cx="745236" cy="274320"/>
          </a:xfrm>
          <a:prstGeom prst="rect">
            <a:avLst/>
          </a:prstGeom>
          <a:solidFill>
            <a:srgbClr val="F3EEF9"/>
          </a:solidFill>
          <a:ln w="6350">
            <a:solidFill>
              <a:srgbClr val="C9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1780" y="3675888"/>
            <a:ext cx="7452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D4F96"/>
                </a:solidFill>
                <a:latin typeface="맑은 고딕"/>
              </a:rPr>
              <a:t>판테놀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57016" y="3648456"/>
            <a:ext cx="1028700" cy="274320"/>
          </a:xfrm>
          <a:prstGeom prst="rect">
            <a:avLst/>
          </a:prstGeom>
          <a:solidFill>
            <a:srgbClr val="F3EEF9"/>
          </a:solidFill>
          <a:ln w="6350">
            <a:solidFill>
              <a:srgbClr val="C9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48456" y="3675888"/>
            <a:ext cx="1028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D4F96"/>
                </a:solidFill>
                <a:latin typeface="맑은 고딕"/>
              </a:rPr>
              <a:t>세라마이드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77156" y="3648456"/>
            <a:ext cx="1170431" cy="274320"/>
          </a:xfrm>
          <a:prstGeom prst="rect">
            <a:avLst/>
          </a:prstGeom>
          <a:solidFill>
            <a:srgbClr val="F3EEF9"/>
          </a:solidFill>
          <a:ln w="6350">
            <a:solidFill>
              <a:srgbClr val="C9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68596" y="3675888"/>
            <a:ext cx="117043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D4F96"/>
                </a:solidFill>
                <a:latin typeface="맑은 고딕"/>
              </a:rPr>
              <a:t>호호바씨오일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39027" y="3648456"/>
            <a:ext cx="1453895" cy="274320"/>
          </a:xfrm>
          <a:prstGeom prst="rect">
            <a:avLst/>
          </a:prstGeom>
          <a:solidFill>
            <a:srgbClr val="F3EEF9"/>
          </a:solidFill>
          <a:ln w="6350">
            <a:solidFill>
              <a:srgbClr val="C9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0467" y="3675888"/>
            <a:ext cx="1453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D4F96"/>
                </a:solidFill>
                <a:latin typeface="맑은 고딕"/>
              </a:rPr>
              <a:t>마카다미아씨오일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1005840"/>
            <a:ext cx="4114800" cy="5120640"/>
          </a:xfrm>
          <a:prstGeom prst="rect">
            <a:avLst/>
          </a:prstGeom>
          <a:solidFill>
            <a:srgbClr val="F5F2EE"/>
          </a:solidFill>
          <a:ln w="9525">
            <a:solidFill>
              <a:srgbClr val="E8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26517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D4F96"/>
                </a:solidFill>
                <a:latin typeface="맑은 고딕"/>
              </a:rPr>
              <a:t>De:maf
Here-Oh My First Serum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5661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A6070"/>
                </a:solidFill>
                <a:latin typeface="맑은 고딕"/>
              </a:rPr>
              <a:t>※ 이 자리에 제품 사진(demaf_product.jpg)을
삽입하세요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446520"/>
            <a:ext cx="12188952" cy="9144"/>
          </a:xfrm>
          <a:prstGeom prst="rect">
            <a:avLst/>
          </a:prstGeom>
          <a:solidFill>
            <a:srgbClr val="EDE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556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98EC5"/>
                </a:solidFill>
                <a:latin typeface="맑은 고딕"/>
              </a:rPr>
              <a:t>KEY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6537960"/>
            <a:ext cx="914400" cy="237744"/>
          </a:xfrm>
          <a:prstGeom prst="rect">
            <a:avLst/>
          </a:prstGeom>
          <a:solidFill>
            <a:srgbClr val="F3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65562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4F96"/>
                </a:solidFill>
                <a:latin typeface="맑은 고딕"/>
              </a:rPr>
              <a:t>히알루론산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48840" y="6537960"/>
            <a:ext cx="658368" cy="237744"/>
          </a:xfrm>
          <a:prstGeom prst="rect">
            <a:avLst/>
          </a:prstGeom>
          <a:solidFill>
            <a:srgbClr val="F3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80" y="6556248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4F96"/>
                </a:solidFill>
                <a:latin typeface="맑은 고딕"/>
              </a:rPr>
              <a:t>판테놀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98648" y="6537960"/>
            <a:ext cx="914400" cy="237744"/>
          </a:xfrm>
          <a:prstGeom prst="rect">
            <a:avLst/>
          </a:prstGeom>
          <a:solidFill>
            <a:srgbClr val="F3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90088" y="65562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4F96"/>
                </a:solidFill>
                <a:latin typeface="맑은 고딕"/>
              </a:rPr>
              <a:t>세라마이드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04488" y="6537960"/>
            <a:ext cx="1042416" cy="237744"/>
          </a:xfrm>
          <a:prstGeom prst="rect">
            <a:avLst/>
          </a:prstGeom>
          <a:solidFill>
            <a:srgbClr val="F3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95928" y="6556248"/>
            <a:ext cx="950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4F96"/>
                </a:solidFill>
                <a:latin typeface="맑은 고딕"/>
              </a:rPr>
              <a:t>호호바씨오일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38344" y="6537960"/>
            <a:ext cx="1298448" cy="237744"/>
          </a:xfrm>
          <a:prstGeom prst="rect">
            <a:avLst/>
          </a:prstGeom>
          <a:solidFill>
            <a:srgbClr val="F3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9784" y="6556248"/>
            <a:ext cx="1207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4F96"/>
                </a:solidFill>
                <a:latin typeface="맑은 고딕"/>
              </a:rPr>
              <a:t>마카다미아씨오일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28232" y="6537960"/>
            <a:ext cx="914400" cy="237744"/>
          </a:xfrm>
          <a:prstGeom prst="rect">
            <a:avLst/>
          </a:prstGeom>
          <a:solidFill>
            <a:srgbClr val="F3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9672" y="65562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4F96"/>
                </a:solidFill>
                <a:latin typeface="맑은 고딕"/>
              </a:rPr>
              <a:t>보습 크림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74552" y="660196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9B8E0"/>
                </a:solidFill>
                <a:latin typeface="맑은 고딕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703923" cy="54864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03923" y="0"/>
            <a:ext cx="5485028" cy="54864"/>
          </a:xfrm>
          <a:prstGeom prst="rect">
            <a:avLst/>
          </a:prstGeom>
          <a:solidFill>
            <a:srgbClr val="E8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98EC5"/>
                </a:solidFill>
                <a:latin typeface="맑은 고딕"/>
              </a:rPr>
              <a:t>How I Use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A2230"/>
                </a:solidFill>
                <a:latin typeface="맑은 고딕"/>
              </a:rPr>
              <a:t>화장품 사용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32688"/>
            <a:ext cx="411480" cy="32004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61288"/>
            <a:ext cx="36576" cy="201168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430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D4F96"/>
                </a:solidFill>
                <a:latin typeface="맑은 고딕"/>
              </a:rPr>
              <a:t>Step 1 · 세럼 기본 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35608"/>
            <a:ext cx="6675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세안 후 피부를 가볍게 정리한 다음, 디마프 히어로 마이 퍼스트 세럼을 손에 덜어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얼굴 전체에 고루 펴 발라줍니다. 적당량을 사용하여 피부에 스며들도록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가볍게 눌러 흡수시키는 방식으로 적용합니다.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31136"/>
            <a:ext cx="36576" cy="201168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128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D4F96"/>
                </a:solidFill>
                <a:latin typeface="맑은 고딕"/>
              </a:rPr>
              <a:t>Step 2 · 레이어링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05456"/>
            <a:ext cx="6675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피부 상태에 따라 같은 세럼을 2~3회 반복해서 겹쳐 바르는 레이어링 방법을 활용합니다.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피부가 특히 건조한 날에는 레이어링 횟수를 늘려 수분감을 보충하며,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각 레이어가 충분히 흡수된 후 다음 단계로 넘어갑니다.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10128"/>
            <a:ext cx="36576" cy="201168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D4F96"/>
                </a:solidFill>
                <a:latin typeface="맑은 고딕"/>
              </a:rPr>
              <a:t>Step 3 · 보습 크림 혼합 사용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84448"/>
            <a:ext cx="6675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현재 사용 중인 보습 크림은 제형이 다소 뻑뻑하여 단독 사용 시 발림성이 떨어졌습니다.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이를 보완하기 위해 보습 크림에 디마프 세럼을 소량 혼합하여 사용합니다.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두 제품을 함께 사용하면 크림의 제형이 부드러워지고 흡수가 자연스럽게 이루어집니다.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005840"/>
            <a:ext cx="4114800" cy="5120640"/>
          </a:xfrm>
          <a:prstGeom prst="rect">
            <a:avLst/>
          </a:prstGeom>
          <a:solidFill>
            <a:srgbClr val="FAF8F5"/>
          </a:solidFill>
          <a:ln w="9525">
            <a:solidFill>
              <a:srgbClr val="E8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1143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A98EC5"/>
                </a:solidFill>
                <a:latin typeface="맑은 고딕"/>
              </a:rPr>
              <a:t>Skincare Routine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1508760"/>
            <a:ext cx="35661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1563624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A98EC5"/>
                </a:solidFill>
                <a:latin typeface="맑은 고딕"/>
              </a:rPr>
              <a:t>STEP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176479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A2230"/>
                </a:solidFill>
                <a:latin typeface="맑은 고딕"/>
              </a:rPr>
              <a:t>세안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03911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A6070"/>
                </a:solidFill>
                <a:latin typeface="맑은 고딕"/>
              </a:rPr>
              <a:t>피부 정돈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37744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9B8E0"/>
                </a:solidFill>
                <a:latin typeface="맑은 고딕"/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2560320"/>
            <a:ext cx="3566160" cy="822960"/>
          </a:xfrm>
          <a:prstGeom prst="rect">
            <a:avLst/>
          </a:prstGeom>
          <a:solidFill>
            <a:srgbClr val="F3EEF9"/>
          </a:solidFill>
          <a:ln w="19050">
            <a:solidFill>
              <a:srgbClr val="6D4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2615184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6D4F96"/>
                </a:solidFill>
                <a:latin typeface="맑은 고딕"/>
              </a:rPr>
              <a:t>STEP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8163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A2230"/>
                </a:solidFill>
                <a:latin typeface="맑은 고딕"/>
              </a:rPr>
              <a:t>세럼 도포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09067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A6070"/>
                </a:solidFill>
                <a:latin typeface="맑은 고딕"/>
              </a:rPr>
              <a:t>디마프 세럼 1회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42900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9B8E0"/>
                </a:solidFill>
                <a:latin typeface="맑은 고딕"/>
              </a:rPr>
              <a:t>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3611880"/>
            <a:ext cx="3566160" cy="822960"/>
          </a:xfrm>
          <a:prstGeom prst="rect">
            <a:avLst/>
          </a:prstGeom>
          <a:solidFill>
            <a:srgbClr val="F3EEF9"/>
          </a:solidFill>
          <a:ln w="19050">
            <a:solidFill>
              <a:srgbClr val="6D4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3666744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6D4F96"/>
                </a:solidFill>
                <a:latin typeface="맑은 고딕"/>
              </a:rPr>
              <a:t>STEP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8679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A2230"/>
                </a:solidFill>
                <a:latin typeface="맑은 고딕"/>
              </a:rPr>
              <a:t>레이어링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14223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A6070"/>
                </a:solidFill>
                <a:latin typeface="맑은 고딕"/>
              </a:rPr>
              <a:t>건조 시 2~3회 중첩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48056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9B8E0"/>
                </a:solidFill>
                <a:latin typeface="맑은 고딕"/>
              </a:rPr>
              <a:t>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4663440"/>
            <a:ext cx="35661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4718304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A98EC5"/>
                </a:solidFill>
                <a:latin typeface="맑은 고딕"/>
              </a:rPr>
              <a:t>STEP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491947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A2230"/>
                </a:solidFill>
                <a:latin typeface="맑은 고딕"/>
              </a:rPr>
              <a:t>보습 크림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519379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A6070"/>
                </a:solidFill>
                <a:latin typeface="맑은 고딕"/>
              </a:rPr>
              <a:t>세럼 소량 혼합 후 도포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446520"/>
            <a:ext cx="12188952" cy="9144"/>
          </a:xfrm>
          <a:prstGeom prst="rect">
            <a:avLst/>
          </a:prstGeom>
          <a:solidFill>
            <a:srgbClr val="EDE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556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98EC5"/>
                </a:solidFill>
                <a:latin typeface="맑은 고딕"/>
              </a:rPr>
              <a:t>KEY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6537960"/>
            <a:ext cx="1170432" cy="237744"/>
          </a:xfrm>
          <a:prstGeom prst="rect">
            <a:avLst/>
          </a:prstGeom>
          <a:solidFill>
            <a:srgbClr val="F3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34440" y="6556248"/>
            <a:ext cx="1078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4F96"/>
                </a:solidFill>
                <a:latin typeface="맑은 고딕"/>
              </a:rPr>
              <a:t>세안 후 사용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04872" y="6537960"/>
            <a:ext cx="786384" cy="237744"/>
          </a:xfrm>
          <a:prstGeom prst="rect">
            <a:avLst/>
          </a:prstGeom>
          <a:solidFill>
            <a:srgbClr val="F3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96312" y="6556248"/>
            <a:ext cx="694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4F96"/>
                </a:solidFill>
                <a:latin typeface="맑은 고딕"/>
              </a:rPr>
              <a:t>레이어링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82696" y="6537960"/>
            <a:ext cx="1170432" cy="237744"/>
          </a:xfrm>
          <a:prstGeom prst="rect">
            <a:avLst/>
          </a:prstGeom>
          <a:solidFill>
            <a:srgbClr val="F3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74136" y="6556248"/>
            <a:ext cx="1078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4F96"/>
                </a:solidFill>
                <a:latin typeface="맑은 고딕"/>
              </a:rPr>
              <a:t>2~3회 중첩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44568" y="6537960"/>
            <a:ext cx="914400" cy="237744"/>
          </a:xfrm>
          <a:prstGeom prst="rect">
            <a:avLst/>
          </a:prstGeom>
          <a:solidFill>
            <a:srgbClr val="F3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36008" y="65562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4F96"/>
                </a:solidFill>
                <a:latin typeface="맑은 고딕"/>
              </a:rPr>
              <a:t>크림 혼합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50408" y="6537960"/>
            <a:ext cx="1042416" cy="237744"/>
          </a:xfrm>
          <a:prstGeom prst="rect">
            <a:avLst/>
          </a:prstGeom>
          <a:solidFill>
            <a:srgbClr val="F3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41848" y="6556248"/>
            <a:ext cx="950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4F96"/>
                </a:solidFill>
                <a:latin typeface="맑은 고딕"/>
              </a:rPr>
              <a:t>발림성 개선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84264" y="6537960"/>
            <a:ext cx="658368" cy="237744"/>
          </a:xfrm>
          <a:prstGeom prst="rect">
            <a:avLst/>
          </a:prstGeom>
          <a:solidFill>
            <a:srgbClr val="F3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75704" y="6556248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4F96"/>
                </a:solidFill>
                <a:latin typeface="맑은 고딕"/>
              </a:rPr>
              <a:t>흡수력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74552" y="660196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9B8E0"/>
                </a:solidFill>
                <a:latin typeface="맑은 고딕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703923" cy="54864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03923" y="0"/>
            <a:ext cx="5485028" cy="54864"/>
          </a:xfrm>
          <a:prstGeom prst="rect">
            <a:avLst/>
          </a:prstGeom>
          <a:solidFill>
            <a:srgbClr val="E8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98EC5"/>
                </a:solidFill>
                <a:latin typeface="맑은 고딕"/>
              </a:rPr>
              <a:t>Changes I Noticed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A2230"/>
                </a:solidFill>
                <a:latin typeface="맑은 고딕"/>
              </a:rPr>
              <a:t>사용 후 느낀 변화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32688"/>
            <a:ext cx="411480" cy="32004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61288"/>
            <a:ext cx="36576" cy="201168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430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D4F96"/>
                </a:solidFill>
                <a:latin typeface="맑은 고딕"/>
              </a:rPr>
              <a:t>피부 당김 감소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35608"/>
            <a:ext cx="6675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세안 후 느껴지던 피부 당김이 줄어들었습니다. 이전에는 세안 직후부터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피부가 팽팽하게 당기는 느낌이 강했는데, 현재 루틴을 꾸준히 실천하면서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그 불편함이 많이 완화되었습니다.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31136"/>
            <a:ext cx="36576" cy="201168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128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D4F96"/>
                </a:solidFill>
                <a:latin typeface="맑은 고딕"/>
              </a:rPr>
              <a:t>피부 촉촉함 증가 및 결 개선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05456"/>
            <a:ext cx="6675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하루 중 피부가 건조해지는 시간이 눈에 띄게 늦어졌습니다. 수분감이 지속되는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시간이 더 길어진 것을 느꼈으며, 피부 결이 전보다 고르게 정돈된 느낌이 듭니다.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화장이 얼굴에 자연스럽게 밀착되는 것도 개선된 부분 중 하나입니다.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10128"/>
            <a:ext cx="36576" cy="201168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D4F96"/>
                </a:solidFill>
                <a:latin typeface="맑은 고딕"/>
              </a:rPr>
              <a:t>피부의 전반적인 편안함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84448"/>
            <a:ext cx="6675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자극이 적고 가벼운 세럼을 중심으로 루틴을 구성한 덕분에, 예민해지거나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트러블이 생기는 일 없이 피부가 전반적으로 이전보다 편안하게 느껴집니다.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세럼과 크림을 혼합하여 사용하는 방식이 보습 효과를 높이는 데 도움이 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005840"/>
            <a:ext cx="4114800" cy="5120640"/>
          </a:xfrm>
          <a:prstGeom prst="rect">
            <a:avLst/>
          </a:prstGeom>
          <a:solidFill>
            <a:srgbClr val="FAF8F5"/>
          </a:solidFill>
          <a:ln w="9525">
            <a:solidFill>
              <a:srgbClr val="E8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1143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A98EC5"/>
                </a:solidFill>
                <a:latin typeface="맑은 고딕"/>
              </a:rPr>
              <a:t>사용 전후 비교 (10점 만점)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80" y="1554480"/>
            <a:ext cx="164592" cy="164592"/>
          </a:xfrm>
          <a:prstGeom prst="rect">
            <a:avLst/>
          </a:prstGeom>
          <a:solidFill>
            <a:srgbClr val="D4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6448" y="154533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6070"/>
                </a:solidFill>
                <a:latin typeface="맑은 고딕"/>
              </a:rPr>
              <a:t>기타 제품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554480"/>
            <a:ext cx="164592" cy="164592"/>
          </a:xfrm>
          <a:prstGeom prst="rect">
            <a:avLst/>
          </a:prstGeom>
          <a:solidFill>
            <a:srgbClr val="7A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45168" y="154533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6070"/>
                </a:solidFill>
                <a:latin typeface="맑은 고딕"/>
              </a:rPr>
              <a:t>디마프 사용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1920240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2230"/>
                </a:solidFill>
                <a:latin typeface="맑은 고딕"/>
              </a:rPr>
              <a:t>피부 당김 감소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21284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A6070"/>
                </a:solidFill>
                <a:latin typeface="맑은 고딕"/>
              </a:rPr>
              <a:t>기타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39328" y="2212848"/>
            <a:ext cx="2468880" cy="201168"/>
          </a:xfrm>
          <a:prstGeom prst="rect">
            <a:avLst/>
          </a:prstGeom>
          <a:solidFill>
            <a:srgbClr val="E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39328" y="2212848"/>
            <a:ext cx="1234440" cy="201168"/>
          </a:xfrm>
          <a:prstGeom prst="rect">
            <a:avLst/>
          </a:prstGeom>
          <a:solidFill>
            <a:srgbClr val="D4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21284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6D4F96"/>
                </a:solidFill>
                <a:latin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246888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6D4F96"/>
                </a:solidFill>
                <a:latin typeface="맑은 고딕"/>
              </a:rPr>
              <a:t>디마프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39328" y="2468880"/>
            <a:ext cx="2468880" cy="201168"/>
          </a:xfrm>
          <a:prstGeom prst="rect">
            <a:avLst/>
          </a:prstGeom>
          <a:solidFill>
            <a:srgbClr val="E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39328" y="2468880"/>
            <a:ext cx="1975104" cy="201168"/>
          </a:xfrm>
          <a:prstGeom prst="rect">
            <a:avLst/>
          </a:prstGeom>
          <a:solidFill>
            <a:srgbClr val="7A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85832" y="2468880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3657600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2230"/>
                </a:solidFill>
                <a:latin typeface="맑은 고딕"/>
              </a:rPr>
              <a:t>피부 촉촉함 증가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395020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A6070"/>
                </a:solidFill>
                <a:latin typeface="맑은 고딕"/>
              </a:rPr>
              <a:t>기타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39328" y="3950208"/>
            <a:ext cx="2468880" cy="201168"/>
          </a:xfrm>
          <a:prstGeom prst="rect">
            <a:avLst/>
          </a:prstGeom>
          <a:solidFill>
            <a:srgbClr val="E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39328" y="3950208"/>
            <a:ext cx="1234440" cy="201168"/>
          </a:xfrm>
          <a:prstGeom prst="rect">
            <a:avLst/>
          </a:prstGeom>
          <a:solidFill>
            <a:srgbClr val="D4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45168" y="395020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6D4F96"/>
                </a:solidFill>
                <a:latin typeface="맑은 고딕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420624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6D4F96"/>
                </a:solidFill>
                <a:latin typeface="맑은 고딕"/>
              </a:rPr>
              <a:t>디마프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39328" y="4206240"/>
            <a:ext cx="2468880" cy="201168"/>
          </a:xfrm>
          <a:prstGeom prst="rect">
            <a:avLst/>
          </a:prstGeom>
          <a:solidFill>
            <a:srgbClr val="E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39328" y="4206240"/>
            <a:ext cx="2221992" cy="201168"/>
          </a:xfrm>
          <a:prstGeom prst="rect">
            <a:avLst/>
          </a:prstGeom>
          <a:solidFill>
            <a:srgbClr val="7A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0" y="4206240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18120" y="3584448"/>
            <a:ext cx="3657600" cy="9144"/>
          </a:xfrm>
          <a:prstGeom prst="rect">
            <a:avLst/>
          </a:prstGeom>
          <a:solidFill>
            <a:srgbClr val="EDE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18120" y="576072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A6070"/>
                </a:solidFill>
                <a:latin typeface="맑은 고딕"/>
              </a:rPr>
              <a:t>* 개인 사용 경험 기반 주관적 평가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6446520"/>
            <a:ext cx="12188952" cy="9144"/>
          </a:xfrm>
          <a:prstGeom prst="rect">
            <a:avLst/>
          </a:prstGeom>
          <a:solidFill>
            <a:srgbClr val="EDE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6556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98EC5"/>
                </a:solidFill>
                <a:latin typeface="맑은 고딕"/>
              </a:rPr>
              <a:t>KEY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6537960"/>
            <a:ext cx="914400" cy="237744"/>
          </a:xfrm>
          <a:prstGeom prst="rect">
            <a:avLst/>
          </a:prstGeom>
          <a:solidFill>
            <a:srgbClr val="F3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34440" y="65562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4F96"/>
                </a:solidFill>
                <a:latin typeface="맑은 고딕"/>
              </a:rPr>
              <a:t>당김 완화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48840" y="6537960"/>
            <a:ext cx="914400" cy="237744"/>
          </a:xfrm>
          <a:prstGeom prst="rect">
            <a:avLst/>
          </a:prstGeom>
          <a:solidFill>
            <a:srgbClr val="F3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40280" y="65562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4F96"/>
                </a:solidFill>
                <a:latin typeface="맑은 고딕"/>
              </a:rPr>
              <a:t>수분 지속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54680" y="6537960"/>
            <a:ext cx="1042416" cy="237744"/>
          </a:xfrm>
          <a:prstGeom prst="rect">
            <a:avLst/>
          </a:prstGeom>
          <a:solidFill>
            <a:srgbClr val="F3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46120" y="6556248"/>
            <a:ext cx="950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4F96"/>
                </a:solidFill>
                <a:latin typeface="맑은 고딕"/>
              </a:rPr>
              <a:t>피부결 개선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88536" y="6537960"/>
            <a:ext cx="1042416" cy="237744"/>
          </a:xfrm>
          <a:prstGeom prst="rect">
            <a:avLst/>
          </a:prstGeom>
          <a:solidFill>
            <a:srgbClr val="F3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79976" y="6556248"/>
            <a:ext cx="950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4F96"/>
                </a:solidFill>
                <a:latin typeface="맑은 고딕"/>
              </a:rPr>
              <a:t>편안한 피부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22392" y="6537960"/>
            <a:ext cx="914400" cy="237744"/>
          </a:xfrm>
          <a:prstGeom prst="rect">
            <a:avLst/>
          </a:prstGeom>
          <a:solidFill>
            <a:srgbClr val="F3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3832" y="65562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4F96"/>
                </a:solidFill>
                <a:latin typeface="맑은 고딕"/>
              </a:rPr>
              <a:t>보습 효과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74552" y="660196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9B8E0"/>
                </a:solidFill>
                <a:latin typeface="맑은 고딕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703923" cy="54864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03923" y="0"/>
            <a:ext cx="5485028" cy="54864"/>
          </a:xfrm>
          <a:prstGeom prst="rect">
            <a:avLst/>
          </a:prstGeom>
          <a:solidFill>
            <a:srgbClr val="E8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98EC5"/>
                </a:solidFill>
                <a:latin typeface="맑은 고딕"/>
              </a:rPr>
              <a:t>Conclusion &amp;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A2230"/>
                </a:solidFill>
                <a:latin typeface="맑은 고딕"/>
              </a:rPr>
              <a:t>결론 및 참고문헌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32688"/>
            <a:ext cx="411480" cy="32004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86757" y="914400"/>
            <a:ext cx="9144" cy="5394960"/>
          </a:xfrm>
          <a:prstGeom prst="rect">
            <a:avLst/>
          </a:prstGeom>
          <a:solidFill>
            <a:srgbClr val="EDE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61288"/>
            <a:ext cx="36576" cy="201168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1430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D4F96"/>
                </a:solidFill>
                <a:latin typeface="맑은 고딕"/>
              </a:rPr>
              <a:t>결론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35608"/>
            <a:ext cx="6126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건성 피부의 가장 핵심적인 관리 과제는 충분한 수분 공급과 피부 장벽 유지입니다.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이번 루틴을 실천하면서 히알루론산, 판테놀, 세라마이드와 같이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피부 보습에 직접적으로 관여하는 성분을 중심으로 제품을 선택하는 것이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건성 피부 관리에 실질적으로 도움이 된다는 것을 경험할 수 있었습니다.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또한 제형이 뻑뻑한 크림을 세럼과 혼합하여 사용하는 방식은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제품의 발림성을 높이고 흡수를 도울 수 있었습니다.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앞으로도 피부 상태에 맞는 성분과 사용 방법을 꾸준히 연구하고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A4350"/>
                </a:solidFill>
                <a:latin typeface="맑은 고딕"/>
              </a:rPr>
              <a:t>실천함으로써 피부 건강을 유지해 나가고자 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31920"/>
            <a:ext cx="1028700" cy="274320"/>
          </a:xfrm>
          <a:prstGeom prst="rect">
            <a:avLst/>
          </a:prstGeom>
          <a:solidFill>
            <a:srgbClr val="F3EEF9"/>
          </a:solidFill>
          <a:ln w="6350">
            <a:solidFill>
              <a:srgbClr val="C9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59352"/>
            <a:ext cx="1028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D4F96"/>
                </a:solidFill>
                <a:latin typeface="맑은 고딕"/>
              </a:rPr>
              <a:t>보습 루틴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87068" y="3931920"/>
            <a:ext cx="1028700" cy="274320"/>
          </a:xfrm>
          <a:prstGeom prst="rect">
            <a:avLst/>
          </a:prstGeom>
          <a:solidFill>
            <a:srgbClr val="F3EEF9"/>
          </a:solidFill>
          <a:ln w="6350">
            <a:solidFill>
              <a:srgbClr val="C9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78508" y="3959352"/>
            <a:ext cx="1028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D4F96"/>
                </a:solidFill>
                <a:latin typeface="맑은 고딕"/>
              </a:rPr>
              <a:t>피부 장벽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25496" y="3931920"/>
            <a:ext cx="1737360" cy="274320"/>
          </a:xfrm>
          <a:prstGeom prst="rect">
            <a:avLst/>
          </a:prstGeom>
          <a:solidFill>
            <a:srgbClr val="F3EEF9"/>
          </a:solidFill>
          <a:ln w="6350">
            <a:solidFill>
              <a:srgbClr val="C9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16936" y="395935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D4F96"/>
                </a:solidFill>
                <a:latin typeface="맑은 고딕"/>
              </a:rPr>
              <a:t>성분 중심 스킨케어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72584" y="3931920"/>
            <a:ext cx="1453895" cy="274320"/>
          </a:xfrm>
          <a:prstGeom prst="rect">
            <a:avLst/>
          </a:prstGeom>
          <a:solidFill>
            <a:srgbClr val="F3EEF9"/>
          </a:solidFill>
          <a:ln w="6350">
            <a:solidFill>
              <a:srgbClr val="C9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64024" y="3959352"/>
            <a:ext cx="1453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D4F96"/>
                </a:solidFill>
                <a:latin typeface="맑은 고딕"/>
              </a:rPr>
              <a:t>건성 피부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0536" y="11430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98EC5"/>
                </a:solidFill>
                <a:latin typeface="맑은 고딕"/>
              </a:rPr>
              <a:t>REFERENCES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0536" y="1554480"/>
            <a:ext cx="36576" cy="237744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40264" y="155448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A5F78"/>
                </a:solidFill>
                <a:latin typeface="맑은 고딕"/>
              </a:rPr>
              <a:t>디마프(De:maf) 공식 홈페이지.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A5F78"/>
                </a:solidFill>
                <a:latin typeface="맑은 고딕"/>
              </a:rPr>
              <a:t>히어로 마이 퍼스트 세럼 제품 정보.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A5F78"/>
                </a:solidFill>
                <a:latin typeface="맑은 고딕"/>
              </a:rPr>
              <a:t>(demaf.global)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0536" y="2560320"/>
            <a:ext cx="36576" cy="237744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40264" y="256032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A5F78"/>
                </a:solidFill>
                <a:latin typeface="맑은 고딕"/>
              </a:rPr>
              <a:t>네이버 지식백과. 「건성 피부」.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A5F78"/>
                </a:solidFill>
                <a:latin typeface="맑은 고딕"/>
              </a:rPr>
              <a:t>피부 유형 및 특성 관련 항목.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A5F78"/>
                </a:solidFill>
                <a:latin typeface="맑은 고딕"/>
              </a:rPr>
              <a:t>서울대학교병원 의학정보.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0536" y="3566160"/>
            <a:ext cx="36576" cy="237744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40264" y="356616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A5F78"/>
                </a:solidFill>
                <a:latin typeface="맑은 고딕"/>
              </a:rPr>
              <a:t>대한피부과학회. 피부 건강 정보 —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A5F78"/>
                </a:solidFill>
                <a:latin typeface="맑은 고딕"/>
              </a:rPr>
              <a:t>피부 건조증과 보습 관리.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A5F78"/>
                </a:solidFill>
                <a:latin typeface="맑은 고딕"/>
              </a:rPr>
              <a:t>(www.derma.or.kr)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0536" y="4572000"/>
            <a:ext cx="36576" cy="237744"/>
          </a:xfrm>
          <a:prstGeom prst="rect">
            <a:avLst/>
          </a:prstGeom>
          <a:solidFill>
            <a:srgbClr val="C9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40264" y="457200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A5F78"/>
                </a:solidFill>
                <a:latin typeface="맑은 고딕"/>
              </a:rPr>
              <a:t>피부미용학 수업 교재 참고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A5F78"/>
                </a:solidFill>
                <a:latin typeface="맑은 고딕"/>
              </a:rPr>
              <a:t>(수업 중 배부된 강의자료 기반).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4552" y="660196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9B8E0"/>
                </a:solidFill>
                <a:latin typeface="맑은 고딕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